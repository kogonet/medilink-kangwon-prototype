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983980"/>
            <a:ext cx="16002000" cy="54102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4250" y="914400"/>
            <a:ext cx="2190750" cy="540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04420" y="3333750"/>
            <a:ext cx="46863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MEDICAL PORTAL FOR GANGWON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666571" y="3768090"/>
            <a:ext cx="6524149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3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메디링크 강원</a:t>
            </a:r>
            <a:endParaRPr lang="en-US" sz="9300" dirty="0"/>
          </a:p>
        </p:txBody>
      </p:sp>
      <p:sp>
        <p:nvSpPr>
          <p:cNvPr id="8" name="Text 4"/>
          <p:cNvSpPr/>
          <p:nvPr/>
        </p:nvSpPr>
        <p:spPr>
          <a:xfrm>
            <a:off x="11977569" y="5067300"/>
            <a:ext cx="5213151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3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제품소개서</a:t>
            </a:r>
            <a:endParaRPr lang="en-US" sz="9300" dirty="0"/>
          </a:p>
        </p:txBody>
      </p:sp>
      <p:sp>
        <p:nvSpPr>
          <p:cNvPr id="9" name="Text 5"/>
          <p:cNvSpPr/>
          <p:nvPr/>
        </p:nvSpPr>
        <p:spPr>
          <a:xfrm>
            <a:off x="11145322" y="6998970"/>
            <a:ext cx="604539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55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강원도민의 건강, 묻고 잇고 찾는 AI 의료 포털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1143000" y="9220200"/>
            <a:ext cx="623256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 바이오·헬스케어 AI 대전환(AX) 실증기업 지원사업 공급기업 서비스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870913" y="9220200"/>
            <a:ext cx="131980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(주)센텀인터넷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8382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000" y="8983980"/>
            <a:ext cx="8763000" cy="54102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22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63990" y="72771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소개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32720" y="758190"/>
            <a:ext cx="75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82000" y="2381250"/>
            <a:ext cx="381393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강원도민의 건강, 묻고 잇고 찾는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8382000" y="2815590"/>
            <a:ext cx="34610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메디링크 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11797308" y="281559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8382000" y="4613910"/>
            <a:ext cx="4434125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질문에서 가까운 의료기관까지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382000" y="5276850"/>
            <a:ext cx="27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언어로 묻고,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382000" y="5867400"/>
            <a:ext cx="46372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기반 답변을 받고,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382000" y="6457950"/>
            <a:ext cx="52285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의료기관으로 연결됩니다.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382000" y="9220200"/>
            <a:ext cx="623256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 바이오·헬스케어 AI 대전환(AX) 실증기업 지원사업 공급기업 서비스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916400" y="924306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762500"/>
            <a:ext cx="16002000" cy="438150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762500"/>
            <a:ext cx="3986213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5148263" y="4762500"/>
            <a:ext cx="3986213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7" name="Shape 5"/>
          <p:cNvSpPr/>
          <p:nvPr/>
        </p:nvSpPr>
        <p:spPr>
          <a:xfrm>
            <a:off x="9153525" y="4762500"/>
            <a:ext cx="3986213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8" name="Shape 6"/>
          <p:cNvSpPr/>
          <p:nvPr/>
        </p:nvSpPr>
        <p:spPr>
          <a:xfrm>
            <a:off x="13158788" y="4762500"/>
            <a:ext cx="3986213" cy="4381500"/>
          </a:xfrm>
          <a:prstGeom prst="rect">
            <a:avLst/>
          </a:prstGeom>
          <a:solidFill>
            <a:srgbClr val="0E1D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4990" y="72771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해결할 문제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093720" y="758190"/>
            <a:ext cx="10308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1741170"/>
            <a:ext cx="488406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정보는 많지만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1143000" y="2544247"/>
            <a:ext cx="601753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도민에게는 찾기 어렵다</a:t>
            </a:r>
            <a:endParaRPr lang="en-US" sz="5100" dirty="0"/>
          </a:p>
        </p:txBody>
      </p:sp>
      <p:sp>
        <p:nvSpPr>
          <p:cNvPr id="15" name="Text 12"/>
          <p:cNvSpPr/>
          <p:nvPr/>
        </p:nvSpPr>
        <p:spPr>
          <a:xfrm>
            <a:off x="1524000" y="5181600"/>
            <a:ext cx="4229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/01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524000" y="7018020"/>
            <a:ext cx="1700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정보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524000" y="7642860"/>
            <a:ext cx="3252311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병원·약국·응급실 정보가 기관별로 흩어져 있어 필요한 정보를 따로 찾아야 합니다.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29263" y="5181600"/>
            <a:ext cx="4229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/02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529263" y="7018020"/>
            <a:ext cx="241863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부족한 판단 근거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5529263" y="7642860"/>
            <a:ext cx="3252073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증상에서 진료과, 병원 선택까지 이어지는 과정에 판단 근거가 부족합니다.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34525" y="5181600"/>
            <a:ext cx="4229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/03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9534525" y="6572250"/>
            <a:ext cx="201322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지역마다 다른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9534525" y="7018020"/>
            <a:ext cx="13883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여건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9534525" y="7642860"/>
            <a:ext cx="3255526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산간·원거리 지역에서는 이동 거리와 응급 대응 여건이 중요한 변수입니다.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539788" y="5181600"/>
            <a:ext cx="4229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/04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3539788" y="6938010"/>
            <a:ext cx="232564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급할수록 중요한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13539788" y="7383780"/>
            <a:ext cx="9829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최신성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3539788" y="8008620"/>
            <a:ext cx="3252311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이용할 수 있는 곳을 판단하려면 정확한 최신 정보가 필요합니다.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9164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762500"/>
            <a:ext cx="11620500" cy="438150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762500"/>
            <a:ext cx="3860721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8260080"/>
            <a:ext cx="3098721" cy="46482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2771" y="4762500"/>
            <a:ext cx="3860840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8" name="Shape 6"/>
          <p:cNvSpPr/>
          <p:nvPr/>
        </p:nvSpPr>
        <p:spPr>
          <a:xfrm>
            <a:off x="5403771" y="8260080"/>
            <a:ext cx="3098840" cy="46482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02661" y="4762500"/>
            <a:ext cx="3860721" cy="4381500"/>
          </a:xfrm>
          <a:prstGeom prst="rect">
            <a:avLst/>
          </a:prstGeom>
          <a:solidFill>
            <a:srgbClr val="4F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83661" y="8260080"/>
            <a:ext cx="3098721" cy="464820"/>
          </a:xfrm>
          <a:prstGeom prst="rect">
            <a:avLst/>
          </a:prstGeom>
          <a:noFill/>
          <a:ln w="10160">
            <a:solidFill>
              <a:srgbClr val="0712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824990" y="72771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흐름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093720" y="758190"/>
            <a:ext cx="35872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→ EVIDENCE → ACTION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1741170"/>
            <a:ext cx="375058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한 번으로</a:t>
            </a:r>
            <a:endParaRPr lang="en-US" sz="5100" dirty="0"/>
          </a:p>
        </p:txBody>
      </p:sp>
      <p:sp>
        <p:nvSpPr>
          <p:cNvPr id="16" name="Text 13"/>
          <p:cNvSpPr/>
          <p:nvPr/>
        </p:nvSpPr>
        <p:spPr>
          <a:xfrm>
            <a:off x="1143000" y="2544247"/>
            <a:ext cx="359842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행동까지</a:t>
            </a:r>
            <a:endParaRPr lang="en-US" sz="5100" dirty="0"/>
          </a:p>
        </p:txBody>
      </p:sp>
      <p:sp>
        <p:nvSpPr>
          <p:cNvPr id="17" name="Text 14"/>
          <p:cNvSpPr/>
          <p:nvPr/>
        </p:nvSpPr>
        <p:spPr>
          <a:xfrm>
            <a:off x="4695706" y="2544247"/>
            <a:ext cx="303168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안내합니다</a:t>
            </a:r>
            <a:endParaRPr lang="en-US" sz="5100" dirty="0"/>
          </a:p>
        </p:txBody>
      </p:sp>
      <p:sp>
        <p:nvSpPr>
          <p:cNvPr id="18" name="Text 15"/>
          <p:cNvSpPr/>
          <p:nvPr/>
        </p:nvSpPr>
        <p:spPr>
          <a:xfrm>
            <a:off x="1524000" y="5082540"/>
            <a:ext cx="777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1524000" y="6141720"/>
            <a:ext cx="201322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 질문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524000" y="6766560"/>
            <a:ext cx="2959179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병원, 질병, 응급 상황을 일상 언어로 묻습니다.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24000" y="8439150"/>
            <a:ext cx="209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내용을 그대로 입력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03771" y="5082540"/>
            <a:ext cx="777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5403771" y="6141720"/>
            <a:ext cx="170080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근거로 답변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5403771" y="6766560"/>
            <a:ext cx="3123009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공공데이터를 근거로 필요한 정보를 안내합니다.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03771" y="8439150"/>
            <a:ext cx="1351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답변의 근거 확인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83661" y="5082540"/>
            <a:ext cx="777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071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800" dirty="0"/>
          </a:p>
        </p:txBody>
      </p:sp>
      <p:sp>
        <p:nvSpPr>
          <p:cNvPr id="27" name="Text 24"/>
          <p:cNvSpPr/>
          <p:nvPr/>
        </p:nvSpPr>
        <p:spPr>
          <a:xfrm>
            <a:off x="9283661" y="6141720"/>
            <a:ext cx="210621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행동 연결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9283661" y="6766560"/>
            <a:ext cx="3105507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의료기관과 전화, 길찾기, 응급 연결을 제시합니다.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283661" y="8439150"/>
            <a:ext cx="186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확인에서 이용까지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1445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762500"/>
            <a:ext cx="16002000" cy="438150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762500"/>
            <a:ext cx="5321261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8157210"/>
            <a:ext cx="1079063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9263" y="8157210"/>
            <a:ext cx="889278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44741" y="8157210"/>
            <a:ext cx="889278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0219" y="8157210"/>
            <a:ext cx="1079063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3311" y="4762500"/>
            <a:ext cx="5321261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11" name="Shape 9"/>
          <p:cNvSpPr/>
          <p:nvPr/>
        </p:nvSpPr>
        <p:spPr>
          <a:xfrm>
            <a:off x="6864311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40121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5933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91744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7556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4311" y="815721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23621" y="4762500"/>
            <a:ext cx="5321261" cy="4381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04621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0432" y="7589520"/>
            <a:ext cx="1458516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15148" y="7589520"/>
            <a:ext cx="889278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80626" y="7589520"/>
            <a:ext cx="699611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04621" y="8157210"/>
            <a:ext cx="889278" cy="472440"/>
          </a:xfrm>
          <a:prstGeom prst="rect">
            <a:avLst/>
          </a:prstGeom>
          <a:solidFill>
            <a:srgbClr val="13254F"/>
          </a:solidFill>
          <a:ln w="10160">
            <a:solidFill>
              <a:srgbClr val="A0BEF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824990" y="727710"/>
            <a:ext cx="9358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방식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2886551" y="758190"/>
            <a:ext cx="36110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SYMPTOM · REGION · DEPARTMENT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43000" y="1741170"/>
            <a:ext cx="560308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탐색 방식으로</a:t>
            </a:r>
            <a:endParaRPr lang="en-US" sz="5100" dirty="0"/>
          </a:p>
        </p:txBody>
      </p:sp>
      <p:sp>
        <p:nvSpPr>
          <p:cNvPr id="28" name="Text 25"/>
          <p:cNvSpPr/>
          <p:nvPr/>
        </p:nvSpPr>
        <p:spPr>
          <a:xfrm>
            <a:off x="1143000" y="2544247"/>
            <a:ext cx="545080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정보에 닿는다</a:t>
            </a:r>
            <a:endParaRPr lang="en-US" sz="5100" dirty="0"/>
          </a:p>
        </p:txBody>
      </p:sp>
      <p:sp>
        <p:nvSpPr>
          <p:cNvPr id="29" name="Text 26"/>
          <p:cNvSpPr/>
          <p:nvPr/>
        </p:nvSpPr>
        <p:spPr>
          <a:xfrm>
            <a:off x="1524000" y="5181600"/>
            <a:ext cx="925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SYMPTOM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524000" y="5692140"/>
            <a:ext cx="13883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증상 검색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1524000" y="6316980"/>
            <a:ext cx="4389954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28개 건강 주제를 바탕으로 필요한 건강 정보를 찾습니다.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84020" y="8241030"/>
            <a:ext cx="80474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건강문제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2839283" y="8241030"/>
            <a:ext cx="61495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치료법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3804761" y="8241030"/>
            <a:ext cx="61495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검사법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4770239" y="8241030"/>
            <a:ext cx="80474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생활관리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6864311" y="5181600"/>
            <a:ext cx="800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REGION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6864311" y="5692140"/>
            <a:ext cx="1388387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검색</a:t>
            </a:r>
            <a:endParaRPr lang="en-US" sz="2700" dirty="0"/>
          </a:p>
        </p:txBody>
      </p:sp>
      <p:sp>
        <p:nvSpPr>
          <p:cNvPr id="38" name="Text 35"/>
          <p:cNvSpPr/>
          <p:nvPr/>
        </p:nvSpPr>
        <p:spPr>
          <a:xfrm>
            <a:off x="6864311" y="6316980"/>
            <a:ext cx="45567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 시군을 기준으로 생활권에 맞는 정보를 탐색합니다.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7024331" y="7673340"/>
            <a:ext cx="42529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7800142" y="7673340"/>
            <a:ext cx="42529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원주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8575953" y="7673340"/>
            <a:ext cx="42529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강릉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9351764" y="7673340"/>
            <a:ext cx="42529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홍천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0127576" y="7673340"/>
            <a:ext cx="42529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평창</a:t>
            </a:r>
            <a:endParaRPr lang="en-US" sz="1650" dirty="0"/>
          </a:p>
        </p:txBody>
      </p:sp>
      <p:sp>
        <p:nvSpPr>
          <p:cNvPr id="44" name="Text 41"/>
          <p:cNvSpPr/>
          <p:nvPr/>
        </p:nvSpPr>
        <p:spPr>
          <a:xfrm>
            <a:off x="7024331" y="8241030"/>
            <a:ext cx="42529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양구</a:t>
            </a:r>
            <a:endParaRPr lang="en-US" sz="1650" dirty="0"/>
          </a:p>
        </p:txBody>
      </p:sp>
      <p:sp>
        <p:nvSpPr>
          <p:cNvPr id="45" name="Text 42"/>
          <p:cNvSpPr/>
          <p:nvPr/>
        </p:nvSpPr>
        <p:spPr>
          <a:xfrm>
            <a:off x="12204621" y="5181600"/>
            <a:ext cx="1303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DEPARTMENT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12204621" y="5692140"/>
            <a:ext cx="1700807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진료과 검색</a:t>
            </a:r>
            <a:endParaRPr lang="en-US" sz="2700" dirty="0"/>
          </a:p>
        </p:txBody>
      </p:sp>
      <p:sp>
        <p:nvSpPr>
          <p:cNvPr id="47" name="Text 44"/>
          <p:cNvSpPr/>
          <p:nvPr/>
        </p:nvSpPr>
        <p:spPr>
          <a:xfrm>
            <a:off x="12204621" y="6316980"/>
            <a:ext cx="4495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진료과를 기준으로 의료기관을 찾습니다.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2364641" y="7673340"/>
            <a:ext cx="42529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내과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3140453" y="7673340"/>
            <a:ext cx="11841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소아청소년과</a:t>
            </a:r>
            <a:endParaRPr lang="en-US" sz="1650" dirty="0"/>
          </a:p>
        </p:txBody>
      </p:sp>
      <p:sp>
        <p:nvSpPr>
          <p:cNvPr id="50" name="Text 47"/>
          <p:cNvSpPr/>
          <p:nvPr/>
        </p:nvSpPr>
        <p:spPr>
          <a:xfrm>
            <a:off x="14675168" y="7673340"/>
            <a:ext cx="61495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피부과</a:t>
            </a:r>
            <a:endParaRPr lang="en-US" sz="1650" dirty="0"/>
          </a:p>
        </p:txBody>
      </p:sp>
      <p:sp>
        <p:nvSpPr>
          <p:cNvPr id="51" name="Text 48"/>
          <p:cNvSpPr/>
          <p:nvPr/>
        </p:nvSpPr>
        <p:spPr>
          <a:xfrm>
            <a:off x="15640645" y="7673340"/>
            <a:ext cx="42529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치과</a:t>
            </a:r>
            <a:endParaRPr lang="en-US" sz="1650" dirty="0"/>
          </a:p>
        </p:txBody>
      </p:sp>
      <p:sp>
        <p:nvSpPr>
          <p:cNvPr id="52" name="Text 49"/>
          <p:cNvSpPr/>
          <p:nvPr/>
        </p:nvSpPr>
        <p:spPr>
          <a:xfrm>
            <a:off x="12364641" y="8241030"/>
            <a:ext cx="61495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한의원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169164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000" y="1809750"/>
            <a:ext cx="8763000" cy="599313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8382000" y="1809750"/>
            <a:ext cx="8763000" cy="198501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8382000" y="3813810"/>
            <a:ext cx="8763000" cy="198501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0" y="5817870"/>
            <a:ext cx="8763000" cy="198501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8" name="Shape 6"/>
          <p:cNvSpPr/>
          <p:nvPr/>
        </p:nvSpPr>
        <p:spPr>
          <a:xfrm>
            <a:off x="8382000" y="8275320"/>
            <a:ext cx="8763000" cy="86868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4990" y="727710"/>
            <a:ext cx="9358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정보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886551" y="758190"/>
            <a:ext cx="17060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1741170"/>
            <a:ext cx="49301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병·의원, 질병정보,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1143000" y="2544247"/>
            <a:ext cx="174593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약국을</a:t>
            </a:r>
            <a:endParaRPr lang="en-US" sz="5100" dirty="0"/>
          </a:p>
        </p:txBody>
      </p:sp>
      <p:sp>
        <p:nvSpPr>
          <p:cNvPr id="15" name="Text 12"/>
          <p:cNvSpPr/>
          <p:nvPr/>
        </p:nvSpPr>
        <p:spPr>
          <a:xfrm>
            <a:off x="1143000" y="3347323"/>
            <a:ext cx="416516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한곳에서 찾는다</a:t>
            </a:r>
            <a:endParaRPr lang="en-US" sz="5100" dirty="0"/>
          </a:p>
        </p:txBody>
      </p:sp>
      <p:sp>
        <p:nvSpPr>
          <p:cNvPr id="16" name="Text 13"/>
          <p:cNvSpPr/>
          <p:nvPr/>
        </p:nvSpPr>
        <p:spPr>
          <a:xfrm>
            <a:off x="1143000" y="4615220"/>
            <a:ext cx="34823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의료 탐색의 기본 기능을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43000" y="5041940"/>
            <a:ext cx="29258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포털로 모았습니다.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839200" y="2665095"/>
            <a:ext cx="171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867900" y="2274570"/>
            <a:ext cx="21093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병·의원 찾기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867900" y="2948940"/>
            <a:ext cx="38771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지역·진료과별로 의료기관을 탐색합니다.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839200" y="4669155"/>
            <a:ext cx="171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9867900" y="4278630"/>
            <a:ext cx="1539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질병 정보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867900" y="4953000"/>
            <a:ext cx="29838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증상별 건강 정보를 확인합니다.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39200" y="6673215"/>
            <a:ext cx="171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867900" y="6282690"/>
            <a:ext cx="1539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약국 찾기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9867900" y="6957060"/>
            <a:ext cx="25082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약국을 확인합니다.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694420" y="858012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570720" y="8530590"/>
            <a:ext cx="448949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결과에 출처와 갱신 시각을 표기합니다.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1430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809750"/>
            <a:ext cx="985361" cy="472440"/>
          </a:xfrm>
          <a:prstGeom prst="rect">
            <a:avLst/>
          </a:prstGeom>
          <a:noFill/>
          <a:ln w="10160">
            <a:solidFill>
              <a:srgbClr val="FF5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1988820"/>
            <a:ext cx="114300" cy="114300"/>
          </a:xfrm>
          <a:prstGeom prst="rect">
            <a:avLst/>
          </a:prstGeom>
          <a:solidFill>
            <a:srgbClr val="FF5D4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6331268"/>
            <a:ext cx="7429500" cy="147447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6331268"/>
            <a:ext cx="2441377" cy="1474470"/>
          </a:xfrm>
          <a:prstGeom prst="rect">
            <a:avLst/>
          </a:prstGeom>
          <a:solidFill>
            <a:srgbClr val="FF5D4F"/>
          </a:solidFill>
          <a:ln/>
        </p:spPr>
      </p:sp>
      <p:sp>
        <p:nvSpPr>
          <p:cNvPr id="8" name="Shape 6"/>
          <p:cNvSpPr/>
          <p:nvPr/>
        </p:nvSpPr>
        <p:spPr>
          <a:xfrm>
            <a:off x="3603427" y="6331268"/>
            <a:ext cx="2441496" cy="147447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9" name="Shape 7"/>
          <p:cNvSpPr/>
          <p:nvPr/>
        </p:nvSpPr>
        <p:spPr>
          <a:xfrm>
            <a:off x="6063972" y="6331268"/>
            <a:ext cx="2508528" cy="147447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10" name="Shape 8"/>
          <p:cNvSpPr/>
          <p:nvPr/>
        </p:nvSpPr>
        <p:spPr>
          <a:xfrm>
            <a:off x="9334500" y="1809750"/>
            <a:ext cx="7810500" cy="7334250"/>
          </a:xfrm>
          <a:prstGeom prst="rect">
            <a:avLst/>
          </a:prstGeom>
          <a:solidFill>
            <a:srgbClr val="0E1D40"/>
          </a:solidFill>
          <a:ln w="10160">
            <a:solidFill>
              <a:srgbClr val="A0BE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99320" y="5414010"/>
            <a:ext cx="6880860" cy="119634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99320" y="6610350"/>
            <a:ext cx="6880860" cy="119634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99320" y="7806690"/>
            <a:ext cx="6880860" cy="1196340"/>
          </a:xfrm>
          <a:prstGeom prst="rect">
            <a:avLst/>
          </a:prstGeom>
          <a:noFill/>
          <a:ln w="10160">
            <a:solidFill>
              <a:srgbClr val="A0BE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824990" y="727710"/>
            <a:ext cx="1205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응급실 LIVE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156704" y="758190"/>
            <a:ext cx="1470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 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31620" y="1893570"/>
            <a:ext cx="48244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143000" y="2510790"/>
            <a:ext cx="518850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갈 수 있는 곳을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1143000" y="3300889"/>
            <a:ext cx="2879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</a:t>
            </a:r>
            <a:endParaRPr lang="en-US" sz="5100" dirty="0"/>
          </a:p>
        </p:txBody>
      </p:sp>
      <p:sp>
        <p:nvSpPr>
          <p:cNvPr id="21" name="Text 18"/>
          <p:cNvSpPr/>
          <p:nvPr/>
        </p:nvSpPr>
        <p:spPr>
          <a:xfrm>
            <a:off x="3976687" y="3300889"/>
            <a:ext cx="246495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확인한다</a:t>
            </a:r>
            <a:endParaRPr lang="en-US" sz="5100" dirty="0"/>
          </a:p>
        </p:txBody>
      </p:sp>
      <p:sp>
        <p:nvSpPr>
          <p:cNvPr id="22" name="Text 19"/>
          <p:cNvSpPr/>
          <p:nvPr/>
        </p:nvSpPr>
        <p:spPr>
          <a:xfrm>
            <a:off x="1143000" y="4525328"/>
            <a:ext cx="462236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국립중앙의료원 공공데이터 실시간 연계로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143000" y="4952048"/>
            <a:ext cx="403836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응급실 병상 가용 현황을 제공합니다.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143000" y="5919788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빠른 전화 연결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409700" y="6597968"/>
            <a:ext cx="80236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119</a:t>
            </a:r>
            <a:endParaRPr lang="en-US" sz="3300" dirty="0"/>
          </a:p>
        </p:txBody>
      </p:sp>
      <p:sp>
        <p:nvSpPr>
          <p:cNvPr id="26" name="Text 23"/>
          <p:cNvSpPr/>
          <p:nvPr/>
        </p:nvSpPr>
        <p:spPr>
          <a:xfrm>
            <a:off x="1409700" y="7264718"/>
            <a:ext cx="1286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화재·구조·구급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870127" y="6597968"/>
            <a:ext cx="1054537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1339</a:t>
            </a:r>
            <a:endParaRPr lang="en-US" sz="3300" dirty="0"/>
          </a:p>
        </p:txBody>
      </p:sp>
      <p:sp>
        <p:nvSpPr>
          <p:cNvPr id="28" name="Text 25"/>
          <p:cNvSpPr/>
          <p:nvPr/>
        </p:nvSpPr>
        <p:spPr>
          <a:xfrm>
            <a:off x="3870127" y="7264718"/>
            <a:ext cx="1129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응급의료 상담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30672" y="6597968"/>
            <a:ext cx="2020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1577-1000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6330672" y="7203757"/>
            <a:ext cx="1079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보건복지상담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799320" y="2297430"/>
            <a:ext cx="2689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 BED STATUS · 예시 화면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5643860" y="2297430"/>
            <a:ext cx="108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갱신 14:32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799320" y="5669280"/>
            <a:ext cx="186463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강원대학교병원</a:t>
            </a:r>
            <a:endParaRPr lang="en-US" sz="2250" dirty="0"/>
          </a:p>
        </p:txBody>
      </p:sp>
      <p:sp>
        <p:nvSpPr>
          <p:cNvPr id="34" name="Text 31"/>
          <p:cNvSpPr/>
          <p:nvPr/>
        </p:nvSpPr>
        <p:spPr>
          <a:xfrm>
            <a:off x="9799320" y="6088380"/>
            <a:ext cx="39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5767804" y="5631180"/>
            <a:ext cx="367547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4200" dirty="0"/>
          </a:p>
        </p:txBody>
      </p:sp>
      <p:sp>
        <p:nvSpPr>
          <p:cNvPr id="36" name="Text 33"/>
          <p:cNvSpPr/>
          <p:nvPr/>
        </p:nvSpPr>
        <p:spPr>
          <a:xfrm>
            <a:off x="16203931" y="5878830"/>
            <a:ext cx="39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병상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799320" y="6865620"/>
            <a:ext cx="2644259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원주세브란스기독병원</a:t>
            </a:r>
            <a:endParaRPr lang="en-US" sz="2250" dirty="0"/>
          </a:p>
        </p:txBody>
      </p:sp>
      <p:sp>
        <p:nvSpPr>
          <p:cNvPr id="38" name="Text 35"/>
          <p:cNvSpPr/>
          <p:nvPr/>
        </p:nvSpPr>
        <p:spPr>
          <a:xfrm>
            <a:off x="9799320" y="7284720"/>
            <a:ext cx="39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원주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5767804" y="6827520"/>
            <a:ext cx="367547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4200" dirty="0"/>
          </a:p>
        </p:txBody>
      </p:sp>
      <p:sp>
        <p:nvSpPr>
          <p:cNvPr id="40" name="Text 37"/>
          <p:cNvSpPr/>
          <p:nvPr/>
        </p:nvSpPr>
        <p:spPr>
          <a:xfrm>
            <a:off x="16203931" y="7075170"/>
            <a:ext cx="39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병상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9799320" y="8061960"/>
            <a:ext cx="1604843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강릉아산병원</a:t>
            </a:r>
            <a:endParaRPr lang="en-US" sz="2250" dirty="0"/>
          </a:p>
        </p:txBody>
      </p:sp>
      <p:sp>
        <p:nvSpPr>
          <p:cNvPr id="42" name="Text 39"/>
          <p:cNvSpPr/>
          <p:nvPr/>
        </p:nvSpPr>
        <p:spPr>
          <a:xfrm>
            <a:off x="9799320" y="8481060"/>
            <a:ext cx="39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강릉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5767804" y="8023860"/>
            <a:ext cx="367547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5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4200" dirty="0"/>
          </a:p>
        </p:txBody>
      </p:sp>
      <p:sp>
        <p:nvSpPr>
          <p:cNvPr id="44" name="Text 41"/>
          <p:cNvSpPr/>
          <p:nvPr/>
        </p:nvSpPr>
        <p:spPr>
          <a:xfrm>
            <a:off x="16203931" y="8271510"/>
            <a:ext cx="39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병상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9799320" y="9003030"/>
            <a:ext cx="63318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병상 현황은 수시로 변동됩니다. 표시 정보를 확인하고 이용 전 문의가 필요합니다.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1430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762500"/>
            <a:ext cx="10477500" cy="438150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762500"/>
            <a:ext cx="10477500" cy="148209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6263640"/>
            <a:ext cx="10477500" cy="145923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7741920"/>
            <a:ext cx="10477500" cy="145923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0" y="4762500"/>
            <a:ext cx="5143500" cy="4381500"/>
          </a:xfrm>
          <a:prstGeom prst="rect">
            <a:avLst/>
          </a:prstGeom>
          <a:solidFill>
            <a:srgbClr val="4FD1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4990" y="727710"/>
            <a:ext cx="14199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상담 도우미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370659" y="758190"/>
            <a:ext cx="2590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CONVERSATIONAL GUIDE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1741170"/>
            <a:ext cx="434649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상담 도우미가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1143000" y="2544247"/>
            <a:ext cx="473190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질문에서 행동까지</a:t>
            </a:r>
            <a:endParaRPr lang="en-US" sz="5100" dirty="0"/>
          </a:p>
        </p:txBody>
      </p:sp>
      <p:sp>
        <p:nvSpPr>
          <p:cNvPr id="15" name="Text 12"/>
          <p:cNvSpPr/>
          <p:nvPr/>
        </p:nvSpPr>
        <p:spPr>
          <a:xfrm>
            <a:off x="5829181" y="2544247"/>
            <a:ext cx="189821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잇는다</a:t>
            </a:r>
            <a:endParaRPr lang="en-US" sz="5100" dirty="0"/>
          </a:p>
        </p:txBody>
      </p:sp>
      <p:sp>
        <p:nvSpPr>
          <p:cNvPr id="16" name="Text 13"/>
          <p:cNvSpPr/>
          <p:nvPr/>
        </p:nvSpPr>
        <p:spPr>
          <a:xfrm>
            <a:off x="1524000" y="5381625"/>
            <a:ext cx="808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질문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3048000" y="5067300"/>
            <a:ext cx="194167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받습니다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048000" y="5581650"/>
            <a:ext cx="530090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“우리 지역에서 지금 진료 중인 의원을 찾고 싶어요.”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524000" y="6871335"/>
            <a:ext cx="808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안내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3048000" y="6568440"/>
            <a:ext cx="305800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정보를 안내합니다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3048000" y="7082790"/>
            <a:ext cx="63366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진료 중인 의원 확인으로 이어지도록 대화형으로 안내합니다.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524000" y="8349615"/>
            <a:ext cx="808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행동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3048000" y="8046720"/>
            <a:ext cx="279808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행동을 제안합니다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3048000" y="8561070"/>
            <a:ext cx="48247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정보를 확인한 뒤 전화나 길찾기로 이어집니다.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458700" y="5242560"/>
            <a:ext cx="16383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71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판단은 전문가 몫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458700" y="5867400"/>
            <a:ext cx="1481971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</a:t>
            </a:r>
            <a:endParaRPr lang="en-US" sz="6300" dirty="0"/>
          </a:p>
        </p:txBody>
      </p:sp>
      <p:sp>
        <p:nvSpPr>
          <p:cNvPr id="27" name="Text 24"/>
          <p:cNvSpPr/>
          <p:nvPr/>
        </p:nvSpPr>
        <p:spPr>
          <a:xfrm>
            <a:off x="12458700" y="6747510"/>
            <a:ext cx="2145983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안내자</a:t>
            </a:r>
            <a:endParaRPr lang="en-US" sz="6300" dirty="0"/>
          </a:p>
        </p:txBody>
      </p:sp>
      <p:sp>
        <p:nvSpPr>
          <p:cNvPr id="28" name="Text 25"/>
          <p:cNvSpPr/>
          <p:nvPr/>
        </p:nvSpPr>
        <p:spPr>
          <a:xfrm>
            <a:off x="12458700" y="8001000"/>
            <a:ext cx="18258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진단이 아닌 안내에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458700" y="8343900"/>
            <a:ext cx="1830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역할을 한정합니다.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69164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0500" y="1809750"/>
            <a:ext cx="9334500" cy="733425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0500" y="1809750"/>
            <a:ext cx="4657725" cy="36576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12487275" y="1809750"/>
            <a:ext cx="4657725" cy="36576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7" name="Shape 5"/>
          <p:cNvSpPr/>
          <p:nvPr/>
        </p:nvSpPr>
        <p:spPr>
          <a:xfrm>
            <a:off x="7810500" y="5486400"/>
            <a:ext cx="4657725" cy="36576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8" name="Shape 6"/>
          <p:cNvSpPr/>
          <p:nvPr/>
        </p:nvSpPr>
        <p:spPr>
          <a:xfrm>
            <a:off x="12487275" y="5486400"/>
            <a:ext cx="4657725" cy="3657600"/>
          </a:xfrm>
          <a:prstGeom prst="rect">
            <a:avLst/>
          </a:prstGeom>
          <a:solidFill>
            <a:srgbClr val="0E1D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4990" y="72771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신뢰의 기반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093720" y="758190"/>
            <a:ext cx="2102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1741170"/>
            <a:ext cx="375058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가지 강점이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1143000" y="2544247"/>
            <a:ext cx="3598426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신뢰를 만든다</a:t>
            </a:r>
            <a:endParaRPr lang="en-US" sz="5100" dirty="0"/>
          </a:p>
        </p:txBody>
      </p:sp>
      <p:sp>
        <p:nvSpPr>
          <p:cNvPr id="15" name="Text 12"/>
          <p:cNvSpPr/>
          <p:nvPr/>
        </p:nvSpPr>
        <p:spPr>
          <a:xfrm>
            <a:off x="1143000" y="3812143"/>
            <a:ext cx="1813679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메디링크 강원의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43000" y="4238863"/>
            <a:ext cx="18852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설계 원칙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191500" y="222885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/01 EVIDENCE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191500" y="3707130"/>
            <a:ext cx="13883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중심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191500" y="4331970"/>
            <a:ext cx="393835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공공데이터를 기반으로 출처·갱신 시각을 공개합니다.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68275" y="2228850"/>
            <a:ext cx="1303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/02 ACTION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2868275" y="3707130"/>
            <a:ext cx="13883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중심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2868275" y="4331970"/>
            <a:ext cx="3795236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확인에서 전화·길안내·응급 연결까지 다음 행동으로 이어집니다.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91500" y="5905500"/>
            <a:ext cx="1177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/03 LOCAL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8191500" y="7383780"/>
            <a:ext cx="13883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맥락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8191500" y="8008620"/>
            <a:ext cx="384917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시군 생활권, 이동 거리, 지역 응급 여건을 우선합니다.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868275" y="5905500"/>
            <a:ext cx="14287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/04 RESPECT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2868275" y="7383780"/>
            <a:ext cx="210621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판단 존중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2868275" y="8008620"/>
            <a:ext cx="3934778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진단이 아닌 안내를 제공합니다. 의료적 판단은 전문가의 영역입니다.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430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2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01040"/>
            <a:ext cx="510540" cy="388620"/>
          </a:xfrm>
          <a:prstGeom prst="rect">
            <a:avLst/>
          </a:prstGeom>
          <a:noFill/>
          <a:ln w="10160">
            <a:solidFill>
              <a:srgbClr val="4FD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762500"/>
            <a:ext cx="16002000" cy="2857500"/>
          </a:xfrm>
          <a:prstGeom prst="rect">
            <a:avLst/>
          </a:prstGeom>
          <a:solidFill>
            <a:srgbClr val="A0BE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762500"/>
            <a:ext cx="7991475" cy="2857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6" name="Shape 4"/>
          <p:cNvSpPr/>
          <p:nvPr/>
        </p:nvSpPr>
        <p:spPr>
          <a:xfrm>
            <a:off x="9153525" y="4762500"/>
            <a:ext cx="7991475" cy="2857500"/>
          </a:xfrm>
          <a:prstGeom prst="rect">
            <a:avLst/>
          </a:prstGeom>
          <a:solidFill>
            <a:srgbClr val="0E1D4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7810500"/>
            <a:ext cx="16002000" cy="1333500"/>
          </a:xfrm>
          <a:prstGeom prst="rect">
            <a:avLst/>
          </a:prstGeom>
          <a:solidFill>
            <a:srgbClr val="4FD1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0" y="707350"/>
            <a:ext cx="1524000" cy="375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3970" y="76581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4990" y="727710"/>
            <a:ext cx="1557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기대효과와 확장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08296" y="758190"/>
            <a:ext cx="1062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" y="1741170"/>
            <a:ext cx="5450801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실증으로 확인할 가치</a:t>
            </a:r>
            <a:endParaRPr lang="en-US" sz="5100" dirty="0"/>
          </a:p>
        </p:txBody>
      </p:sp>
      <p:sp>
        <p:nvSpPr>
          <p:cNvPr id="13" name="Text 10"/>
          <p:cNvSpPr/>
          <p:nvPr/>
        </p:nvSpPr>
        <p:spPr>
          <a:xfrm>
            <a:off x="1143000" y="2544247"/>
            <a:ext cx="616981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D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도민 편익과 사업 확장성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1524000" y="5181600"/>
            <a:ext cx="9258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524000" y="5654040"/>
            <a:ext cx="13883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도민 편익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524000" y="6278880"/>
            <a:ext cx="49088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접근성 향상과 응급 대응 시간 단축 기대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524000" y="6926580"/>
            <a:ext cx="35831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기대효과이며, 실증 수치는 추후 보완합니다.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534525" y="5181600"/>
            <a:ext cx="674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F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SCALE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534525" y="5654040"/>
            <a:ext cx="1700809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확장성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9534525" y="6278880"/>
            <a:ext cx="362438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바이오·헬스케어 AX 실증 모델로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534525" y="6705600"/>
            <a:ext cx="345829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2F5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시군·기관 및 병원 확장 가능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676400" y="8431530"/>
            <a:ext cx="10432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71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2978706" y="8202930"/>
            <a:ext cx="24300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(주)센텀인터넷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13476089" y="8145780"/>
            <a:ext cx="318123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12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031-261-7093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6916400" y="9494520"/>
            <a:ext cx="274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3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2026-10-21T08:09:43Z</dcterms:created>
  <dcterms:modified xsi:type="dcterms:W3CDTF">2026-10-21T08:09:43Z</dcterms:modified>
</cp:coreProperties>
</file>